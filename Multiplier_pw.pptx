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7" r:id="rId6"/>
    <p:sldId id="259" r:id="rId7"/>
    <p:sldId id="260" r:id="rId8"/>
    <p:sldId id="258" r:id="rId9"/>
    <p:sldId id="261" r:id="rId10"/>
    <p:sldId id="262" r:id="rId11"/>
    <p:sldId id="263" r:id="rId12"/>
    <p:sldId id="270" r:id="rId13"/>
    <p:sldId id="271" r:id="rId14"/>
    <p:sldId id="264" r:id="rId15"/>
    <p:sldId id="265" r:id="rId16"/>
    <p:sldId id="272" r:id="rId17"/>
    <p:sldId id="273" r:id="rId18"/>
    <p:sldId id="274" r:id="rId19"/>
    <p:sldId id="276" r:id="rId20"/>
    <p:sldId id="275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FFD6"/>
    <a:srgbClr val="DBFF36"/>
    <a:srgbClr val="DBF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E88755-2CDF-664B-9DF6-81C37790C9C1}" v="25" dt="2025-04-14T19:59:26.203"/>
    <p1510:client id="{7B496F2D-B03A-44D5-BEA9-BD40E989A0F3}" v="1270" dt="2025-04-15T09:49:56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47B76B-8ED8-47F4-B972-C513F4D5E682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82CA7-BB75-47C8-BA9F-66766261139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10119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82CA7-BB75-47C8-BA9F-667662611396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9345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82CA7-BB75-47C8-BA9F-667662611396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5102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615CE5-F987-C56F-744E-778F560AF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7B5CEC8-7320-7956-A8E9-66460E7C4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ECAD51-BE73-199B-D5FF-B9DA626E3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CB08BC-F537-0B39-24A9-A11F66CEA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BC65B02-449E-02E3-82F9-63AF1DB5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97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B522-1E42-DEFB-1230-1EAB54D6D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58041B6-2702-B1C2-348D-92460A6BF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DE9980-2D43-A40D-96E2-5B3BFA31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63E7C21-9B99-383C-6DDF-EC17325CE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97B327-A284-CD80-FCC4-67E16F0D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16754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3F529A-60B4-2685-4F51-E153298F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7CC5A2-8127-D541-CFF4-E857DA77A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CC07C37-90BA-6871-507D-EAA6B0F7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47EE37C-3046-26AB-963A-C8490010A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4B89AD-4FF1-C3A1-BABF-172CC7F7E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927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E683136-4B09-9825-46FA-110D955CE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4D93FA-5F21-D50E-E561-70E2D0F27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0F9720B-4B8D-6C49-D183-284CD68C9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D3F2781-262D-89AF-F20F-E90DFBD6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B05E6E6-4D59-4358-78A1-12140DFA7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8283A3-9AFB-C948-323B-724D4C2F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170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55AF18-9FBF-9B63-1FF6-08EEF4C8D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2D24E4-6C17-5AF7-C5D3-014C84087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0A67A90-0C49-DBA3-8E30-48279AA17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EEAE17A-DDF1-7E3C-B588-6AB9BE4F74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83E6DCA-BEF2-6BC5-D7E6-A9ECC46A1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D4124C2-CB04-0EA1-9CF8-C50A3A702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513FB68-17F3-99E4-F4D9-BB3759C58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112CFB3-20BE-AD3D-7E5A-2B5FA771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4276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62A467-D9C8-D11C-4881-93681A42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E802162-0464-7933-F1EE-E3D800F4C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859E597-C2C9-056D-7E7C-54E7F2BA7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920AF6D-075A-6555-B78F-9A799328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575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CE579AE-8155-2A7F-435F-45D7A204A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77A1E0-4B45-7F17-FB25-7B93A525A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7EA1B3D-398C-94E0-936A-5BCB59BE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485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D0230C-5FBF-707F-EFB6-EC7EF41D7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36722B-BD7C-0382-C7A8-C30E1AFF6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564B86-3010-202B-6F4B-D3C97072E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14D1018-7001-2C0B-C5FD-BCABE1A9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91B582-40CA-259B-B67A-28B8C39A1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C00678D-6402-5592-D7F9-86E1F188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99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8CBFD4-2931-47AA-2622-A7E92F493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445D192-2DE0-7D3F-94D9-AEF220206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01938FC-8206-6E9C-9EE1-72340E377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BA9DFAD-63DF-A02F-6517-CF969E1D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84089C5-75FC-674E-A0CC-CFD880C6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98BD320-EFC2-6353-8EAF-816178ABD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5285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A0CAD6-7A2E-6572-9929-98C64DDAA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020A81-6751-44BE-38BB-966EE0CF8A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02BCB20-F235-0BE7-E3BB-70A0DE9B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21F7776-49A7-F398-B438-B2DBB16A7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C9BA32-0611-C93A-2015-67296CEED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0580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73D1EAE-40DA-91B6-7CA8-229A739713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FE37490-594C-B0B0-CA31-FD6C680C3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3B5EDB-E1C2-E07F-5D05-41A33A7F2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46E562E-27EF-2B32-80AB-5B177A09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C38177-51D0-3C07-9AA1-4FF25FB59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80009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A2B1244-2BB2-6A59-8BB7-B37DB0F33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A7858EA-9C2A-B7D6-FB97-5277E381F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AA979B-264F-4FF8-DEBC-318FB9B46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3F94A4-01FA-478B-8EDF-679C6EE4A491}" type="datetimeFigureOut">
              <a:rPr lang="it-IT" smtClean="0"/>
              <a:t>15/04/2025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F264E39-B9A6-C25C-348B-5F97BBFB17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629837-088D-1753-0E58-6922D32AE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5D73F6-ACE9-45EF-98AB-43C6233CB1B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8492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17/06/relationships/model3d" Target="../media/model3d1.glb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microsoft.com/office/2017/06/relationships/model3d" Target="../media/model3d1.glb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9.png"/><Relationship Id="rId4" Type="http://schemas.microsoft.com/office/2017/06/relationships/model3d" Target="../media/model3d2.glb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7/06/relationships/model3d" Target="../media/model3d2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microsoft.com/office/2017/06/relationships/model3d" Target="../media/model3d3.glb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microsoft.com/office/2017/06/relationships/model3d" Target="../media/model3d4.glb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7/06/relationships/model3d" Target="../media/model3d4.glb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microsoft.com/office/2017/06/relationships/model3d" Target="../media/model3d5.glb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microsoft.com/office/2017/06/relationships/model3d" Target="../media/model3d5.glb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33F45C2-D2F3-31A2-E76B-2C0AFDC1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140" y="242039"/>
            <a:ext cx="6939720" cy="652308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178EC61B-E53F-3715-3172-27A4E56BA654}"/>
              </a:ext>
            </a:extLst>
          </p:cNvPr>
          <p:cNvSpPr/>
          <p:nvPr/>
        </p:nvSpPr>
        <p:spPr>
          <a:xfrm>
            <a:off x="1360918" y="2459504"/>
            <a:ext cx="9470157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6000" cap="none" spc="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MATRIX MULTIPLIER</a:t>
            </a:r>
          </a:p>
          <a:p>
            <a:pPr algn="ctr"/>
            <a:r>
              <a:rPr lang="it-IT" sz="60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VHDL IMPLEMENTATION</a:t>
            </a:r>
            <a:endParaRPr lang="it-IT" sz="6000" cap="none" spc="0" dirty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77C39D5-0A2A-7DF9-B832-644D648DDEB3}"/>
              </a:ext>
            </a:extLst>
          </p:cNvPr>
          <p:cNvSpPr txBox="1"/>
          <p:nvPr/>
        </p:nvSpPr>
        <p:spPr>
          <a:xfrm>
            <a:off x="2841167" y="4554863"/>
            <a:ext cx="6509657" cy="2053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solidFill>
                  <a:schemeClr val="tx2"/>
                </a:solidFill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it-IT" sz="1800" kern="100" dirty="0">
              <a:solidFill>
                <a:schemeClr val="tx2"/>
              </a:solidFill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Megan Maremmani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Eleni </a:t>
            </a:r>
            <a:r>
              <a:rPr lang="fr-FR" sz="1800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Zewdu</a:t>
            </a:r>
            <a:r>
              <a:rPr lang="fr-FR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800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Belayhun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tabLst>
                <a:tab pos="1276985" algn="l"/>
              </a:tabLst>
            </a:pPr>
            <a:endParaRPr lang="it-IT" sz="1800" kern="100" dirty="0">
              <a:solidFill>
                <a:schemeClr val="tx2"/>
              </a:solidFill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C701F8-21B2-60B5-969F-A5D221207794}"/>
              </a:ext>
            </a:extLst>
          </p:cNvPr>
          <p:cNvSpPr txBox="1"/>
          <p:nvPr/>
        </p:nvSpPr>
        <p:spPr>
          <a:xfrm>
            <a:off x="3047996" y="949348"/>
            <a:ext cx="6096000" cy="80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  <a:tabLst>
                <a:tab pos="1276985" algn="l"/>
              </a:tabLst>
            </a:pPr>
            <a:r>
              <a:rPr lang="en-GB" sz="1800" b="1" kern="100" dirty="0">
                <a:solidFill>
                  <a:schemeClr val="tx2"/>
                </a:solidFill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Master Of Science in Computer Engineering </a:t>
            </a:r>
            <a:endParaRPr lang="it-IT" sz="1800" b="1" kern="100" dirty="0">
              <a:solidFill>
                <a:schemeClr val="tx2"/>
              </a:solidFill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tabLst>
                <a:tab pos="1276985" algn="l"/>
              </a:tabLst>
            </a:pPr>
            <a:r>
              <a:rPr lang="en-GB" sz="1800" b="1" kern="100" dirty="0">
                <a:solidFill>
                  <a:schemeClr val="tx2"/>
                </a:solidFill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Electronics and Communications Systems</a:t>
            </a:r>
          </a:p>
        </p:txBody>
      </p:sp>
    </p:spTree>
    <p:extLst>
      <p:ext uri="{BB962C8B-B14F-4D97-AF65-F5344CB8AC3E}">
        <p14:creationId xmlns:p14="http://schemas.microsoft.com/office/powerpoint/2010/main" val="4183910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953D8-3D10-8E38-1770-2508C0ECB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854D63C-B068-61D1-7E16-E34D21C79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C6E554C-D0DB-FD69-CF99-326DA635EC9A}"/>
              </a:ext>
            </a:extLst>
          </p:cNvPr>
          <p:cNvSpPr txBox="1"/>
          <p:nvPr/>
        </p:nvSpPr>
        <p:spPr>
          <a:xfrm>
            <a:off x="-1034143" y="177578"/>
            <a:ext cx="906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PROBLEM DESCRIPTION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5C0E67FA-68B6-8367-D64E-3ECA4AFDB6C2}"/>
              </a:ext>
            </a:extLst>
          </p:cNvPr>
          <p:cNvSpPr/>
          <p:nvPr/>
        </p:nvSpPr>
        <p:spPr>
          <a:xfrm>
            <a:off x="438747" y="1853906"/>
            <a:ext cx="6122020" cy="56843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DB8E92FC-699A-7EF0-7ABD-157E9C2BB3F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83" y="3139743"/>
            <a:ext cx="5479547" cy="295899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0DDE3D2-61CE-97F1-8A23-E9C08012B2DE}"/>
              </a:ext>
            </a:extLst>
          </p:cNvPr>
          <p:cNvSpPr txBox="1"/>
          <p:nvPr/>
        </p:nvSpPr>
        <p:spPr>
          <a:xfrm>
            <a:off x="759983" y="2204437"/>
            <a:ext cx="5040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THE DESIGN:</a:t>
            </a:r>
            <a:endParaRPr lang="it-IT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1037FA6-AE67-7EF2-F37B-3356B7B5695A}"/>
                  </a:ext>
                </a:extLst>
              </p:cNvPr>
              <p:cNvSpPr txBox="1"/>
              <p:nvPr/>
            </p:nvSpPr>
            <p:spPr>
              <a:xfrm>
                <a:off x="6966858" y="2337519"/>
                <a:ext cx="4579567" cy="39218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tx2"/>
                    </a:solidFill>
                    <a:effectLst/>
                    <a:latin typeface="Arial Rounded MT Bold" panose="020F07040305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Matrix Multiplication is a very useful and fundamental operation in various scientific fields</a:t>
                </a:r>
              </a:p>
              <a:p>
                <a:pPr algn="ctr"/>
                <a:endParaRPr lang="en-US" dirty="0">
                  <a:solidFill>
                    <a:schemeClr val="tx2"/>
                  </a:solidFill>
                  <a:latin typeface="Arial Rounded MT Bold" panose="020F070403050403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800" dirty="0">
                    <a:solidFill>
                      <a:schemeClr val="tx2"/>
                    </a:solidFill>
                    <a:effectLst/>
                    <a:latin typeface="Arial Rounded MT Bold" panose="020F0704030504030204" pitchFamily="34" charset="0"/>
                    <a:ea typeface="Aptos" panose="020B0004020202020204" pitchFamily="34" charset="0"/>
                    <a:cs typeface="Arial" panose="020B0604020202020204" pitchFamily="34" charset="0"/>
                  </a:rPr>
                  <a:t>The request is to design a digital circuit that implements a matrix multiplication</a:t>
                </a:r>
              </a:p>
              <a:p>
                <a:endParaRPr lang="en-US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𝐴</m:t>
                      </m:r>
                      <m:r>
                        <a:rPr lang="en-US" sz="180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𝑛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800" i="1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Arial" panose="020B0604020202020204" pitchFamily="34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Arial" panose="020B0604020202020204" pitchFamily="34" charset="0"/>
                                      </a:rPr>
                                      <m:t>𝑛𝑚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it-IT" sz="1800" b="0" i="1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i="1" dirty="0"/>
              </a:p>
              <a:p>
                <a:endParaRPr lang="it-IT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⋱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it-IT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/>
              </a:p>
            </p:txBody>
          </p:sp>
        </mc:Choice>
        <mc:Fallback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1037FA6-AE67-7EF2-F37B-3356B7B56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858" y="2337519"/>
                <a:ext cx="4579567" cy="3921843"/>
              </a:xfrm>
              <a:prstGeom prst="rect">
                <a:avLst/>
              </a:prstGeom>
              <a:blipFill>
                <a:blip r:embed="rId5"/>
                <a:stretch>
                  <a:fillRect l="-932" t="-776" r="-17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lo 3D 1" descr="Parentesi rossa">
                <a:extLst>
                  <a:ext uri="{FF2B5EF4-FFF2-40B4-BE49-F238E27FC236}">
                    <a16:creationId xmlns:a16="http://schemas.microsoft.com/office/drawing/2014/main" id="{7CEBF41C-54D6-E63E-67CD-13EC5A76E16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90650083"/>
                  </p:ext>
                </p:extLst>
              </p:nvPr>
            </p:nvGraphicFramePr>
            <p:xfrm>
              <a:off x="8400404" y="434485"/>
              <a:ext cx="1296628" cy="1419421"/>
            </p:xfrm>
            <a:graphic>
              <a:graphicData uri="http://schemas.microsoft.com/office/drawing/2017/model3d">
                <am3d:model3d r:embed="rId6">
                  <am3d:spPr>
                    <a:xfrm>
                      <a:off x="0" y="0"/>
                      <a:ext cx="1296628" cy="1419421"/>
                    </a:xfrm>
                    <a:prstGeom prst="rect">
                      <a:avLst/>
                    </a:prstGeom>
                  </am3d:spPr>
                  <am3d:camera>
                    <am3d:pos x="0" y="0" z="673829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74237" d="1000000"/>
                    <am3d:preTrans dx="0" dy="-1801227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444801" ay="-962125" az="-123503"/>
                    <am3d:postTrans dx="0" dy="0" dz="0"/>
                  </am3d:trans>
                  <am3d:raster rName="Office3DRenderer" rVer="16.0.8326">
                    <am3d:blip r:embed="rId7"/>
                  </am3d:raster>
                  <am3d:objViewport viewportSz="187304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lo 3D 1" descr="Parentesi rossa">
                <a:extLst>
                  <a:ext uri="{FF2B5EF4-FFF2-40B4-BE49-F238E27FC236}">
                    <a16:creationId xmlns:a16="http://schemas.microsoft.com/office/drawing/2014/main" id="{7CEBF41C-54D6-E63E-67CD-13EC5A76E1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400404" y="434485"/>
                <a:ext cx="1296628" cy="141942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1645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64E113-22EF-655E-5E86-C2C8A87DD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BFBB53F-E7F9-4F54-9AA9-5E09A8B29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pic>
        <p:nvPicPr>
          <p:cNvPr id="2" name="Immagine 1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36BF2A76-2A79-E9A9-056F-6B8B84E157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180" y="4419958"/>
            <a:ext cx="3748813" cy="202438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88C91C72-5724-27A6-C1FE-6CF3ABEEC4B7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PORTS DESCRIPTION</a:t>
            </a:r>
            <a:endParaRPr lang="it-IT" sz="4000" cap="none" spc="0" dirty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 dirty="0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5AA2DB5-DA94-0665-179A-70918F377FF9}"/>
              </a:ext>
            </a:extLst>
          </p:cNvPr>
          <p:cNvSpPr/>
          <p:nvPr/>
        </p:nvSpPr>
        <p:spPr>
          <a:xfrm>
            <a:off x="371007" y="1333081"/>
            <a:ext cx="3540040" cy="56843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3BF5A83C-0E7C-C92D-E8FB-BE8547CFB062}"/>
              </a:ext>
            </a:extLst>
          </p:cNvPr>
          <p:cNvSpPr/>
          <p:nvPr/>
        </p:nvSpPr>
        <p:spPr>
          <a:xfrm>
            <a:off x="4187724" y="1333081"/>
            <a:ext cx="3540040" cy="56843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85F6D27-30CC-A075-AAD5-1DB8D9DF5334}"/>
              </a:ext>
            </a:extLst>
          </p:cNvPr>
          <p:cNvSpPr txBox="1"/>
          <p:nvPr/>
        </p:nvSpPr>
        <p:spPr>
          <a:xfrm>
            <a:off x="1070466" y="1424573"/>
            <a:ext cx="19832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INPUTS:</a:t>
            </a:r>
            <a:endParaRPr lang="it-IT" sz="32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77A3281-517E-7FF1-F2ED-ED9D4E70D1B1}"/>
              </a:ext>
            </a:extLst>
          </p:cNvPr>
          <p:cNvSpPr txBox="1"/>
          <p:nvPr/>
        </p:nvSpPr>
        <p:spPr>
          <a:xfrm>
            <a:off x="4686921" y="1486077"/>
            <a:ext cx="26826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OUTPUTS:</a:t>
            </a:r>
            <a:endParaRPr lang="it-IT" sz="320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99303831-FA7A-3F09-1921-8F73FF4F1796}"/>
              </a:ext>
            </a:extLst>
          </p:cNvPr>
          <p:cNvSpPr txBox="1"/>
          <p:nvPr/>
        </p:nvSpPr>
        <p:spPr>
          <a:xfrm>
            <a:off x="8255516" y="2259769"/>
            <a:ext cx="33821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To improve code readability and modularity, a dedicated signals package is included to reference the system’s inputs and outputs in a clean and structured manner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8E935A0-80C8-2D45-CCA5-A86655AB0608}"/>
              </a:ext>
            </a:extLst>
          </p:cNvPr>
          <p:cNvSpPr txBox="1"/>
          <p:nvPr/>
        </p:nvSpPr>
        <p:spPr>
          <a:xfrm>
            <a:off x="397039" y="1957689"/>
            <a:ext cx="3446270" cy="452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clk : Clock signal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rst</a:t>
            </a: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: Reset signal (active high)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N_size</a:t>
            </a: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: Rows for A and C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M_size : Columns for A and rows for B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K_size  : Columns for Matrices B and C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A_row</a:t>
            </a: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 : In A stored row-wise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B_column : In B stored column-wise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A_valid  : Valid signal for A 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B_valid : Valid signal for B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C42F853-C63A-BF75-B2A1-BAD1CFDA138D}"/>
              </a:ext>
            </a:extLst>
          </p:cNvPr>
          <p:cNvSpPr txBox="1"/>
          <p:nvPr/>
        </p:nvSpPr>
        <p:spPr>
          <a:xfrm>
            <a:off x="4464399" y="2199935"/>
            <a:ext cx="2828787" cy="1655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US" sz="1800" kern="1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C_row   : Output matrix C stored row-wise</a:t>
            </a:r>
            <a:endParaRPr lang="it-IT" sz="1800" kern="10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800" kern="1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C_valid  : Output valid signal for C  </a:t>
            </a:r>
            <a:endParaRPr lang="it-IT" sz="1800" kern="10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C5019AFC-E069-7994-937C-EDB3DE71A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314" y="4241538"/>
            <a:ext cx="2024385" cy="202438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lo 3D 12" descr="Parentesi rossa">
                <a:extLst>
                  <a:ext uri="{FF2B5EF4-FFF2-40B4-BE49-F238E27FC236}">
                    <a16:creationId xmlns:a16="http://schemas.microsoft.com/office/drawing/2014/main" id="{8BD2A1CA-8272-A657-605D-3192D3E26A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59122226"/>
                  </p:ext>
                </p:extLst>
              </p:nvPr>
            </p:nvGraphicFramePr>
            <p:xfrm>
              <a:off x="8174651" y="352730"/>
              <a:ext cx="1318965" cy="1501176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1318965" cy="1501176"/>
                    </a:xfrm>
                    <a:prstGeom prst="rect">
                      <a:avLst/>
                    </a:prstGeom>
                  </am3d:spPr>
                  <am3d:camera>
                    <am3d:pos x="0" y="0" z="67382965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674237" d="1000000"/>
                    <am3d:preTrans dx="0" dy="-18012275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336740" ay="1576150" az="149424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187305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lo 3D 12" descr="Parentesi rossa">
                <a:extLst>
                  <a:ext uri="{FF2B5EF4-FFF2-40B4-BE49-F238E27FC236}">
                    <a16:creationId xmlns:a16="http://schemas.microsoft.com/office/drawing/2014/main" id="{8BD2A1CA-8272-A657-605D-3192D3E26A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74651" y="352730"/>
                <a:ext cx="1318965" cy="150117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32631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600FD7-CBB6-5A7F-1EF9-BED95E37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08D08D1-3CB3-5D17-C9CC-95636C81D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3B4C4686-D223-15FC-DBA7-1DC6384BE723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cap="none" spc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BLOCK DIAGRAM</a:t>
            </a:r>
          </a:p>
          <a:p>
            <a:endParaRPr lang="it-IT" sz="3200"/>
          </a:p>
        </p:txBody>
      </p:sp>
      <p:pic>
        <p:nvPicPr>
          <p:cNvPr id="3" name="Immagine 2" descr="Immagine che contiene diagramma, testo, linea, Piano&#10;&#10;Il contenuto generato dall'IA potrebbe non essere corretto.">
            <a:extLst>
              <a:ext uri="{FF2B5EF4-FFF2-40B4-BE49-F238E27FC236}">
                <a16:creationId xmlns:a16="http://schemas.microsoft.com/office/drawing/2014/main" id="{A564BF3F-C56C-F900-C102-A48B814F298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2"/>
          <a:stretch/>
        </p:blipFill>
        <p:spPr bwMode="auto">
          <a:xfrm>
            <a:off x="1971806" y="1021275"/>
            <a:ext cx="8253576" cy="48154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1DA52C2-2ABD-3F66-043B-70C3E0A468E6}"/>
              </a:ext>
            </a:extLst>
          </p:cNvPr>
          <p:cNvSpPr txBox="1"/>
          <p:nvPr/>
        </p:nvSpPr>
        <p:spPr>
          <a:xfrm>
            <a:off x="2042088" y="5967300"/>
            <a:ext cx="8107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Circuit’s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block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diagram</a:t>
            </a:r>
            <a:endParaRPr lang="it-IT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63210"/>
      </p:ext>
    </p:extLst>
  </p:cSld>
  <p:clrMapOvr>
    <a:masterClrMapping/>
  </p:clrMapOvr>
  <p:transition spd="slow">
    <p:push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6541A5-CB3F-3BB4-E08F-34DD76601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0276CD8-78A8-E968-14D6-E5040DE4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pic>
        <p:nvPicPr>
          <p:cNvPr id="3" name="Immagine 2" descr="Immagine che contiene diagramma, testo, linea, Piano&#10;&#10;Il contenuto generato dall'IA potrebbe non essere corretto.">
            <a:extLst>
              <a:ext uri="{FF2B5EF4-FFF2-40B4-BE49-F238E27FC236}">
                <a16:creationId xmlns:a16="http://schemas.microsoft.com/office/drawing/2014/main" id="{1F94EEC0-C572-EAF0-0B84-267C3183255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241" b="4929"/>
          <a:stretch/>
        </p:blipFill>
        <p:spPr bwMode="auto">
          <a:xfrm>
            <a:off x="0" y="1025682"/>
            <a:ext cx="4005943" cy="58323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F859F507-F334-61D0-C606-7F570901A814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cap="none" spc="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LOOK UP TABLES (LUT)</a:t>
            </a:r>
          </a:p>
          <a:p>
            <a:endParaRPr lang="it-IT" sz="32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306DA3B-1200-0653-BBD0-9FC373406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271" y="1853905"/>
            <a:ext cx="3407959" cy="5706351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45DDB6CB-D957-A598-98C1-BADFE11CB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402" y="1853906"/>
            <a:ext cx="3407959" cy="5706351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35A46E2-D4A6-0B8F-8210-90EEEFC83B46}"/>
              </a:ext>
            </a:extLst>
          </p:cNvPr>
          <p:cNvSpPr txBox="1"/>
          <p:nvPr/>
        </p:nvSpPr>
        <p:spPr>
          <a:xfrm>
            <a:off x="4778101" y="2082343"/>
            <a:ext cx="3278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Matrix_LUT_A:</a:t>
            </a:r>
            <a:endParaRPr lang="it-IT" sz="320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2FDFDB8-73B9-7A93-C723-7B0A04DCF0FA}"/>
              </a:ext>
            </a:extLst>
          </p:cNvPr>
          <p:cNvSpPr txBox="1"/>
          <p:nvPr/>
        </p:nvSpPr>
        <p:spPr>
          <a:xfrm>
            <a:off x="8733440" y="2082343"/>
            <a:ext cx="3407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Matrix_LUT_B:</a:t>
            </a:r>
            <a:endParaRPr lang="it-IT" sz="320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683D259A-C05C-C9BD-D8B6-916F1600F6FD}"/>
              </a:ext>
            </a:extLst>
          </p:cNvPr>
          <p:cNvSpPr txBox="1"/>
          <p:nvPr/>
        </p:nvSpPr>
        <p:spPr>
          <a:xfrm>
            <a:off x="5521744" y="1025682"/>
            <a:ext cx="4620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An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implementation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of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LUTs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has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been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made: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B6E9636E-D1FF-725C-4C15-6C6F21D22EE4}"/>
              </a:ext>
            </a:extLst>
          </p:cNvPr>
          <p:cNvSpPr txBox="1"/>
          <p:nvPr/>
        </p:nvSpPr>
        <p:spPr>
          <a:xfrm>
            <a:off x="4845384" y="2895555"/>
            <a:ext cx="277773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Stores input data for Matrix A in a row-wise format. </a:t>
            </a:r>
          </a:p>
          <a:p>
            <a:pPr algn="ctr"/>
            <a:endParaRPr lang="en-US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Data is loaded sequentially and fully before computation begins to ensure synchronization with the system and the second LUT.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9DB67EE-DCA4-0916-AD23-CC873045353D}"/>
              </a:ext>
            </a:extLst>
          </p:cNvPr>
          <p:cNvSpPr txBox="1"/>
          <p:nvPr/>
        </p:nvSpPr>
        <p:spPr>
          <a:xfrm>
            <a:off x="8836515" y="2895555"/>
            <a:ext cx="277773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Stores input data for Matrix B in a column-wise format. </a:t>
            </a:r>
          </a:p>
          <a:p>
            <a:pPr algn="ctr"/>
            <a:endParaRPr lang="en-US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Data is loaded sequentially and fully before computation begins to ensure synchronization with the system and the second LUT.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988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7E90F2-032F-1643-42D1-06E3C39B4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9ABCD399-A85B-F72D-EEE9-FEE4166CB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pic>
        <p:nvPicPr>
          <p:cNvPr id="2" name="Immagine 1" descr="Immagine che contiene diagramma, testo, linea, Piano&#10;&#10;Il contenuto generato dall'IA potrebbe non essere corretto.">
            <a:extLst>
              <a:ext uri="{FF2B5EF4-FFF2-40B4-BE49-F238E27FC236}">
                <a16:creationId xmlns:a16="http://schemas.microsoft.com/office/drawing/2014/main" id="{A1BA5512-845D-840B-622D-7323926BEA9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58" t="18132" r="987" b="23134"/>
          <a:stretch/>
        </p:blipFill>
        <p:spPr bwMode="auto">
          <a:xfrm>
            <a:off x="5811031" y="3320143"/>
            <a:ext cx="6380969" cy="353785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F5E1B7E-A4BC-9405-78DF-36774B670F1B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cap="none" spc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MULTIPLIER AND LUT_C</a:t>
            </a:r>
          </a:p>
          <a:p>
            <a:endParaRPr lang="it-IT" sz="32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34DA0C8-1859-861F-19E9-2CD19C67E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197" y="1106905"/>
            <a:ext cx="5159161" cy="612553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4F98898-60AC-D346-5780-020A12BB56EC}"/>
              </a:ext>
            </a:extLst>
          </p:cNvPr>
          <p:cNvSpPr txBox="1"/>
          <p:nvPr/>
        </p:nvSpPr>
        <p:spPr>
          <a:xfrm>
            <a:off x="6096000" y="1587948"/>
            <a:ext cx="55986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Matrix_LUT_C: Stores results of the multiplication in row-wise format. </a:t>
            </a:r>
          </a:p>
          <a:p>
            <a:pPr algn="ctr"/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Each element is written to its corresponding address and mapped to C_row, with C_valid indicating result validity. 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D57A462-4057-0DBB-D11E-EE0131B363CF}"/>
              </a:ext>
            </a:extLst>
          </p:cNvPr>
          <p:cNvSpPr txBox="1"/>
          <p:nvPr/>
        </p:nvSpPr>
        <p:spPr>
          <a:xfrm>
            <a:off x="1135392" y="1333081"/>
            <a:ext cx="3278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MatrixMultiplier</a:t>
            </a:r>
            <a:endParaRPr lang="it-IT" sz="32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9BB25B9-E95A-4517-93C0-2CFB5F205ECF}"/>
              </a:ext>
            </a:extLst>
          </p:cNvPr>
          <p:cNvSpPr txBox="1"/>
          <p:nvPr/>
        </p:nvSpPr>
        <p:spPr>
          <a:xfrm>
            <a:off x="583908" y="2045707"/>
            <a:ext cx="463034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Implemented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using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 Finite State Machine (FSM) </a:t>
            </a:r>
          </a:p>
          <a:p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Processes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state_reg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synchronous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state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transitions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and counter updates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based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on clock/reset.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FSM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Defines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next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states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and control signals.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MUL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Performs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dot product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operations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during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multiplication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phase.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RESULT_OUT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Assembles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and outputs Matrix C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row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by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row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,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signaling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readiness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via C_valid.</a:t>
            </a:r>
          </a:p>
          <a:p>
            <a:pPr marL="285750" indent="-285750">
              <a:buFontTx/>
              <a:buChar char="-"/>
            </a:pP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853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08FF5B-90AB-265D-D388-2AE8B27C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A22FFE5-4A71-646F-7478-ADF8207AE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C1CBA14-4F47-D93F-5BD5-5F007BE298F6}"/>
              </a:ext>
            </a:extLst>
          </p:cNvPr>
          <p:cNvSpPr txBox="1"/>
          <p:nvPr/>
        </p:nvSpPr>
        <p:spPr>
          <a:xfrm>
            <a:off x="205571" y="134059"/>
            <a:ext cx="45297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MULTIPLIER 2/2</a:t>
            </a:r>
            <a:endParaRPr lang="it-IT" sz="4000" cap="none" spc="0" dirty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lo 3D 2" descr="Addizione">
                <a:extLst>
                  <a:ext uri="{FF2B5EF4-FFF2-40B4-BE49-F238E27FC236}">
                    <a16:creationId xmlns:a16="http://schemas.microsoft.com/office/drawing/2014/main" id="{935E9D60-9EF1-3502-DFD3-4BF05834E10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1695724"/>
                  </p:ext>
                </p:extLst>
              </p:nvPr>
            </p:nvGraphicFramePr>
            <p:xfrm>
              <a:off x="5558150" y="1427628"/>
              <a:ext cx="911960" cy="1461089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911960" cy="1461089"/>
                    </a:xfrm>
                    <a:prstGeom prst="rect">
                      <a:avLst/>
                    </a:prstGeom>
                  </am3d:spPr>
                  <am3d:camera>
                    <am3d:pos x="0" y="0" z="577499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42251" d="1000000"/>
                    <am3d:preTrans dx="-495556" dy="-18000000" dz="-1"/>
                    <am3d:scale>
                      <am3d:sx n="1000000" d="1000000"/>
                      <am3d:sy n="1000000" d="1000000"/>
                      <am3d:sz n="1000000" d="1000000"/>
                    </am3d:scale>
                    <am3d:rot ax="257812" ay="1206910" az="888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1660222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lo 3D 2" descr="Addizione">
                <a:extLst>
                  <a:ext uri="{FF2B5EF4-FFF2-40B4-BE49-F238E27FC236}">
                    <a16:creationId xmlns:a16="http://schemas.microsoft.com/office/drawing/2014/main" id="{935E9D60-9EF1-3502-DFD3-4BF05834E10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58150" y="1427628"/>
                <a:ext cx="911960" cy="1461089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magine 5" descr="Immagine che contiene diagramma, testo, linea, Piano&#10;&#10;Il contenuto generato dall'IA potrebbe non essere corretto.">
            <a:extLst>
              <a:ext uri="{FF2B5EF4-FFF2-40B4-BE49-F238E27FC236}">
                <a16:creationId xmlns:a16="http://schemas.microsoft.com/office/drawing/2014/main" id="{D4453786-0560-38A9-477A-95B506576CAF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2"/>
          <a:stretch/>
        </p:blipFill>
        <p:spPr bwMode="auto">
          <a:xfrm>
            <a:off x="5860072" y="3163713"/>
            <a:ext cx="6331928" cy="36942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91944CCE-4300-BC5F-406E-3B69689E7B8D}"/>
              </a:ext>
            </a:extLst>
          </p:cNvPr>
          <p:cNvSpPr/>
          <p:nvPr/>
        </p:nvSpPr>
        <p:spPr>
          <a:xfrm>
            <a:off x="6925438" y="2242386"/>
            <a:ext cx="4779705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3600" b="0" cap="none" spc="0" dirty="0">
                <a:ln w="0"/>
                <a:solidFill>
                  <a:schemeClr val="tx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 Rounded MT Bold" panose="020F0704030504030204" pitchFamily="34" charset="0"/>
              </a:rPr>
              <a:t>STATES DEFINITION</a:t>
            </a:r>
          </a:p>
        </p:txBody>
      </p:sp>
      <p:pic>
        <p:nvPicPr>
          <p:cNvPr id="18" name="Immagine 17">
            <a:extLst>
              <a:ext uri="{FF2B5EF4-FFF2-40B4-BE49-F238E27FC236}">
                <a16:creationId xmlns:a16="http://schemas.microsoft.com/office/drawing/2014/main" id="{06089A27-8700-3D9B-53C3-2580A75B69C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197" y="1106905"/>
            <a:ext cx="5159161" cy="6125531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E8AA59B1-5630-EAF0-6E2E-6D9587100119}"/>
              </a:ext>
            </a:extLst>
          </p:cNvPr>
          <p:cNvSpPr txBox="1"/>
          <p:nvPr/>
        </p:nvSpPr>
        <p:spPr>
          <a:xfrm>
            <a:off x="814757" y="1853906"/>
            <a:ext cx="4152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IDLE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Initial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state; system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ready and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initialized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LOAD_MAT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Loads data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into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LUTs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and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synchronizes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inputs.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CHECK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Ensures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all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preconditions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for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multiplication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are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met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MULTIPLY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Performs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matrix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multiplication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MAT_C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Stores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multiplication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results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into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output 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LUT_RESULT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Prepares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final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matrix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C for output,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row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by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row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it-IT" b="1" u="sng" dirty="0">
                <a:solidFill>
                  <a:schemeClr val="tx2"/>
                </a:solidFill>
                <a:latin typeface="Arial Rounded MT Bold" panose="020F0704030504030204" pitchFamily="34" charset="0"/>
              </a:rPr>
              <a:t>END_MUL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: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Indicates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completion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of the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multiplication</a:t>
            </a:r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dirty="0" err="1">
                <a:solidFill>
                  <a:schemeClr val="tx2"/>
                </a:solidFill>
                <a:latin typeface="Arial Rounded MT Bold" panose="020F0704030504030204" pitchFamily="34" charset="0"/>
              </a:rPr>
              <a:t>process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6FD926C1-542C-596D-85E0-A8CDAC2C4F37}"/>
              </a:ext>
            </a:extLst>
          </p:cNvPr>
          <p:cNvSpPr txBox="1"/>
          <p:nvPr/>
        </p:nvSpPr>
        <p:spPr>
          <a:xfrm>
            <a:off x="1135392" y="1333081"/>
            <a:ext cx="3278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MatrixMultiplier</a:t>
            </a:r>
            <a:endParaRPr lang="it-IT" sz="3200" dirty="0"/>
          </a:p>
        </p:txBody>
      </p:sp>
    </p:spTree>
    <p:extLst>
      <p:ext uri="{BB962C8B-B14F-4D97-AF65-F5344CB8AC3E}">
        <p14:creationId xmlns:p14="http://schemas.microsoft.com/office/powerpoint/2010/main" val="17659155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C1008F-24F7-59F5-4B0C-4B463368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82083AD-96D5-A928-82CB-82CFBBDBD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lo 3D 1" descr="Addizione">
                <a:extLst>
                  <a:ext uri="{FF2B5EF4-FFF2-40B4-BE49-F238E27FC236}">
                    <a16:creationId xmlns:a16="http://schemas.microsoft.com/office/drawing/2014/main" id="{E9E82F1A-5C82-B8A6-91A8-C8A77A16858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6720691"/>
                  </p:ext>
                </p:extLst>
              </p:nvPr>
            </p:nvGraphicFramePr>
            <p:xfrm>
              <a:off x="255052" y="232269"/>
              <a:ext cx="917495" cy="147857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17495" cy="1478574"/>
                    </a:xfrm>
                    <a:prstGeom prst="rect">
                      <a:avLst/>
                    </a:prstGeom>
                  </am3d:spPr>
                  <am3d:camera>
                    <am3d:pos x="0" y="0" z="577499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42251" d="1000000"/>
                    <am3d:preTrans dx="-495556" dy="-18000000" dz="-1"/>
                    <am3d:scale>
                      <am3d:sx n="1000000" d="1000000"/>
                      <am3d:sy n="1000000" d="1000000"/>
                      <am3d:sz n="1000000" d="1000000"/>
                    </am3d:scale>
                    <am3d:rot ax="212142" ay="1396505" az="8391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6602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lo 3D 1" descr="Addizione">
                <a:extLst>
                  <a:ext uri="{FF2B5EF4-FFF2-40B4-BE49-F238E27FC236}">
                    <a16:creationId xmlns:a16="http://schemas.microsoft.com/office/drawing/2014/main" id="{E9E82F1A-5C82-B8A6-91A8-C8A77A16858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052" y="232269"/>
                <a:ext cx="917495" cy="147857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083F6D33-23B6-B8FC-A9BE-0CD83798AD06}"/>
              </a:ext>
            </a:extLst>
          </p:cNvPr>
          <p:cNvSpPr txBox="1"/>
          <p:nvPr/>
        </p:nvSpPr>
        <p:spPr>
          <a:xfrm>
            <a:off x="1515232" y="232269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TEST BENCH – TEST PLAN </a:t>
            </a:r>
            <a:endParaRPr lang="it-IT" sz="4000" cap="none" spc="0" dirty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 dirty="0"/>
          </a:p>
        </p:txBody>
      </p:sp>
      <p:pic>
        <p:nvPicPr>
          <p:cNvPr id="5" name="Immagine 4" descr="Immagine che contiene schermata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EE14F93D-912C-7FFB-D487-C87327BD5D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511" y="2629960"/>
            <a:ext cx="9735273" cy="363229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5DE7956-E73A-4F25-9CD9-7FE55F1144E1}"/>
              </a:ext>
            </a:extLst>
          </p:cNvPr>
          <p:cNvSpPr txBox="1"/>
          <p:nvPr/>
        </p:nvSpPr>
        <p:spPr>
          <a:xfrm>
            <a:off x="1019813" y="6301943"/>
            <a:ext cx="10144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GB" sz="1800" i="1" kern="100" dirty="0">
                <a:solidFill>
                  <a:srgbClr val="455F5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Loading of one LUT with values</a:t>
            </a:r>
            <a:endParaRPr lang="it-IT" sz="1800" i="1" kern="100" dirty="0">
              <a:solidFill>
                <a:srgbClr val="455F5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D15233FA-F5EA-A656-4454-4C0E668A8892}"/>
              </a:ext>
            </a:extLst>
          </p:cNvPr>
          <p:cNvSpPr txBox="1"/>
          <p:nvPr/>
        </p:nvSpPr>
        <p:spPr>
          <a:xfrm>
            <a:off x="884166" y="1008326"/>
            <a:ext cx="1023196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The matrix multiplication was verified using a VHDL testbench in </a:t>
            </a:r>
            <a:r>
              <a:rPr lang="en-US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ModelSim-Intel FPGA Standard Edition</a:t>
            </a: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. </a:t>
            </a:r>
          </a:p>
          <a:p>
            <a:pPr algn="ctr">
              <a:buNone/>
            </a:pP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A  </a:t>
            </a:r>
            <a:r>
              <a:rPr lang="en-US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3×3 matrix</a:t>
            </a: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 configuration was chosen to balance simplicity and thoroughness.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Testbench validates functional correctness based on input dimensions.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 Rounded MT Bold" panose="020F0704030504030204" pitchFamily="34" charset="0"/>
              </a:rPr>
              <a:t>Simulation progress and key events are tracked through reports.</a:t>
            </a:r>
          </a:p>
        </p:txBody>
      </p:sp>
    </p:spTree>
    <p:extLst>
      <p:ext uri="{BB962C8B-B14F-4D97-AF65-F5344CB8AC3E}">
        <p14:creationId xmlns:p14="http://schemas.microsoft.com/office/powerpoint/2010/main" val="3767359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60FE9-1538-C2EC-BF3B-EC17B0A8D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48226283-60EE-BF3A-7D3E-E672C8D33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lo 3D 1" descr="Addizione">
                <a:extLst>
                  <a:ext uri="{FF2B5EF4-FFF2-40B4-BE49-F238E27FC236}">
                    <a16:creationId xmlns:a16="http://schemas.microsoft.com/office/drawing/2014/main" id="{2DF374EE-15FC-DB65-D2FA-1491FE6CAAE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5052" y="232269"/>
              <a:ext cx="917495" cy="147857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17495" cy="1478574"/>
                    </a:xfrm>
                    <a:prstGeom prst="rect">
                      <a:avLst/>
                    </a:prstGeom>
                  </am3d:spPr>
                  <am3d:camera>
                    <am3d:pos x="0" y="0" z="577499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42251" d="1000000"/>
                    <am3d:preTrans dx="-495556" dy="-18000000" dz="-1"/>
                    <am3d:scale>
                      <am3d:sx n="1000000" d="1000000"/>
                      <am3d:sy n="1000000" d="1000000"/>
                      <am3d:sz n="1000000" d="1000000"/>
                    </am3d:scale>
                    <am3d:rot ax="212142" ay="1396505" az="8391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6602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lo 3D 1" descr="Addizione">
                <a:extLst>
                  <a:ext uri="{FF2B5EF4-FFF2-40B4-BE49-F238E27FC236}">
                    <a16:creationId xmlns:a16="http://schemas.microsoft.com/office/drawing/2014/main" id="{2DF374EE-15FC-DB65-D2FA-1491FE6CAA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052" y="232269"/>
                <a:ext cx="917495" cy="147857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CD275693-2C3A-F28E-A3CC-38589D9DCA28}"/>
              </a:ext>
            </a:extLst>
          </p:cNvPr>
          <p:cNvSpPr txBox="1"/>
          <p:nvPr/>
        </p:nvSpPr>
        <p:spPr>
          <a:xfrm>
            <a:off x="1611083" y="510514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SOME HIGHLIGHTS</a:t>
            </a:r>
            <a:endParaRPr lang="it-IT" sz="4000" cap="none" spc="0" dirty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 dirty="0"/>
          </a:p>
        </p:txBody>
      </p:sp>
      <p:pic>
        <p:nvPicPr>
          <p:cNvPr id="6" name="Immagine 5" descr="Immagine che contiene schermata, testo&#10;&#10;Il contenuto generato dall'IA potrebbe non essere corretto.">
            <a:extLst>
              <a:ext uri="{FF2B5EF4-FFF2-40B4-BE49-F238E27FC236}">
                <a16:creationId xmlns:a16="http://schemas.microsoft.com/office/drawing/2014/main" id="{B3BDDEFA-D036-0DE3-CF50-37F54FE806C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05" y="2136088"/>
            <a:ext cx="10549589" cy="3709541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30952D25-5302-A395-1768-0DFF584A4EE1}"/>
              </a:ext>
            </a:extLst>
          </p:cNvPr>
          <p:cNvSpPr txBox="1"/>
          <p:nvPr/>
        </p:nvSpPr>
        <p:spPr>
          <a:xfrm>
            <a:off x="821204" y="6040665"/>
            <a:ext cx="105495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GB" sz="1800" i="1" kern="100">
                <a:solidFill>
                  <a:srgbClr val="455F5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LUT C result storage</a:t>
            </a:r>
            <a:endParaRPr lang="it-IT" sz="1800" i="1" kern="100">
              <a:solidFill>
                <a:srgbClr val="455F5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26900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13685F-4F47-4449-0943-91DB475B7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E4E55642-3301-4467-9ADE-3F74635E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lo 3D 1" descr="Addizione">
                <a:extLst>
                  <a:ext uri="{FF2B5EF4-FFF2-40B4-BE49-F238E27FC236}">
                    <a16:creationId xmlns:a16="http://schemas.microsoft.com/office/drawing/2014/main" id="{C5911F7F-F622-0980-6669-05DDE3C0D9A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55052" y="232269"/>
              <a:ext cx="917495" cy="1478574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917495" cy="1478574"/>
                    </a:xfrm>
                    <a:prstGeom prst="rect">
                      <a:avLst/>
                    </a:prstGeom>
                  </am3d:spPr>
                  <am3d:camera>
                    <am3d:pos x="0" y="0" z="5774996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442251" d="1000000"/>
                    <am3d:preTrans dx="-495556" dy="-18000000" dz="-1"/>
                    <am3d:scale>
                      <am3d:sx n="1000000" d="1000000"/>
                      <am3d:sy n="1000000" d="1000000"/>
                      <am3d:sz n="1000000" d="1000000"/>
                    </am3d:scale>
                    <am3d:rot ax="212142" ay="1396505" az="8391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16602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lo 3D 1" descr="Addizione">
                <a:extLst>
                  <a:ext uri="{FF2B5EF4-FFF2-40B4-BE49-F238E27FC236}">
                    <a16:creationId xmlns:a16="http://schemas.microsoft.com/office/drawing/2014/main" id="{C5911F7F-F622-0980-6669-05DDE3C0D9A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052" y="232269"/>
                <a:ext cx="917495" cy="1478574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0C59A63A-40CD-76C7-3330-93AC6D84A2C2}"/>
              </a:ext>
            </a:extLst>
          </p:cNvPr>
          <p:cNvSpPr txBox="1"/>
          <p:nvPr/>
        </p:nvSpPr>
        <p:spPr>
          <a:xfrm>
            <a:off x="1611085" y="510514"/>
            <a:ext cx="5399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SOME HIGHLIGHTS</a:t>
            </a:r>
            <a:endParaRPr lang="it-IT" sz="4000" cap="none" spc="0" dirty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 dirty="0"/>
          </a:p>
        </p:txBody>
      </p:sp>
      <p:pic>
        <p:nvPicPr>
          <p:cNvPr id="6" name="Immagine 5" descr="Immagine che contiene schermata, Software multimediale&#10;&#10;Il contenuto generato dall'IA potrebbe non essere corretto.">
            <a:extLst>
              <a:ext uri="{FF2B5EF4-FFF2-40B4-BE49-F238E27FC236}">
                <a16:creationId xmlns:a16="http://schemas.microsoft.com/office/drawing/2014/main" id="{942094E5-35C9-41A1-C053-D4939159F9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128" y="2136088"/>
            <a:ext cx="9929744" cy="370485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672B2CD-3905-076B-DA1F-D93C2DD8A566}"/>
              </a:ext>
            </a:extLst>
          </p:cNvPr>
          <p:cNvSpPr txBox="1"/>
          <p:nvPr/>
        </p:nvSpPr>
        <p:spPr>
          <a:xfrm>
            <a:off x="1131128" y="6035975"/>
            <a:ext cx="992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lang="en-GB" sz="1800" i="1" kern="100">
                <a:solidFill>
                  <a:srgbClr val="455F5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output of the results</a:t>
            </a:r>
            <a:endParaRPr lang="it-IT" sz="1800" i="1" kern="100">
              <a:solidFill>
                <a:srgbClr val="455F5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986913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95D9C-45A3-CE9A-5C03-482B2B178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E3D43B3-C988-0CF8-4894-935EAEF77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CB15A7-E746-D8FC-64EF-9E4D7F232088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SYNTHESIS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444BAD8-F032-3482-F40F-D84A21577D9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8" r="3520"/>
          <a:stretch/>
        </p:blipFill>
        <p:spPr bwMode="auto">
          <a:xfrm>
            <a:off x="0" y="979987"/>
            <a:ext cx="7995056" cy="58780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FCBF0515-E519-CD58-DEF4-8D0AB1D54039}"/>
              </a:ext>
            </a:extLst>
          </p:cNvPr>
          <p:cNvSpPr txBox="1"/>
          <p:nvPr/>
        </p:nvSpPr>
        <p:spPr>
          <a:xfrm>
            <a:off x="8254209" y="1853906"/>
            <a:ext cx="3584866" cy="4959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it-IT" sz="180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sz="1800" kern="1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synthesis was done without mapping the actual physical I/O ports of the FPGA pins, using the -mode out_of_context option. </a:t>
            </a:r>
          </a:p>
          <a:p>
            <a:pPr algn="ctr"/>
            <a:endParaRPr lang="it-IT" sz="1800" kern="10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A warning came up during simulation:</a:t>
            </a:r>
            <a:endParaRPr lang="it-IT" sz="1800" kern="10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lvl="0" indent="-342900" algn="ctr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GB" sz="1800" kern="1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because we used the out of context mode, so the accuracy of the timing is affected, however this does not impact the validity of the current results</a:t>
            </a:r>
            <a:endParaRPr lang="it-IT" sz="1800" kern="10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endParaRPr lang="it-IT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lo 3D 7" descr="CPU">
                <a:extLst>
                  <a:ext uri="{FF2B5EF4-FFF2-40B4-BE49-F238E27FC236}">
                    <a16:creationId xmlns:a16="http://schemas.microsoft.com/office/drawing/2014/main" id="{D776EB1D-6F4D-FA01-0526-9B4439410D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7848107"/>
                  </p:ext>
                </p:extLst>
              </p:nvPr>
            </p:nvGraphicFramePr>
            <p:xfrm>
              <a:off x="8144427" y="132752"/>
              <a:ext cx="2190737" cy="1665860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2190737" cy="1665860"/>
                    </a:xfrm>
                    <a:prstGeom prst="rect">
                      <a:avLst/>
                    </a:prstGeom>
                  </am3d:spPr>
                  <am3d:camera>
                    <am3d:pos x="0" y="0" z="66566187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9999999" d="1000000"/>
                    <am3d:preTrans dx="0" dy="-55664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2366765" ay="-998096" az="-795212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26245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lo 3D 7" descr="CPU">
                <a:extLst>
                  <a:ext uri="{FF2B5EF4-FFF2-40B4-BE49-F238E27FC236}">
                    <a16:creationId xmlns:a16="http://schemas.microsoft.com/office/drawing/2014/main" id="{D776EB1D-6F4D-FA01-0526-9B4439410D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44427" y="132752"/>
                <a:ext cx="2190737" cy="16658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1793703"/>
      </p:ext>
    </p:extLst>
  </p:cSld>
  <p:clrMapOvr>
    <a:masterClrMapping/>
  </p:clrMapOvr>
  <p:transition spd="slow">
    <p:push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FEA0A-C486-C81F-010E-31B2401EB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CC9E322B-A462-4839-F827-082CE7911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EEC751A3-D154-E060-6738-38917AA69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9949"/>
            <a:ext cx="12192000" cy="2844463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A65E1D5-C9D9-363B-92F5-12F5A7E5169A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TIMING REPORT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D5639AE-BDC9-0D4D-8087-4889C436E96C}"/>
              </a:ext>
            </a:extLst>
          </p:cNvPr>
          <p:cNvSpPr txBox="1"/>
          <p:nvPr/>
        </p:nvSpPr>
        <p:spPr>
          <a:xfrm>
            <a:off x="1678405" y="1682018"/>
            <a:ext cx="88351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design timing summary confirms that all user-specified timing constraints for the matrix multiplier implementation have been successfully met </a:t>
            </a:r>
            <a:endParaRPr lang="it-IT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8" name="Modello 3D 7" descr="Cronometro">
                <a:extLst>
                  <a:ext uri="{FF2B5EF4-FFF2-40B4-BE49-F238E27FC236}">
                    <a16:creationId xmlns:a16="http://schemas.microsoft.com/office/drawing/2014/main" id="{8595FF24-B990-E9F5-913C-08D8D71CD8C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2004707"/>
                  </p:ext>
                </p:extLst>
              </p:nvPr>
            </p:nvGraphicFramePr>
            <p:xfrm>
              <a:off x="118224" y="983859"/>
              <a:ext cx="1282539" cy="1740094"/>
            </p:xfrm>
            <a:graphic>
              <a:graphicData uri="http://schemas.microsoft.com/office/drawing/2017/model3d">
                <am3d:model3d r:embed="rId4">
                  <am3d:spPr>
                    <a:xfrm>
                      <a:off x="0" y="0"/>
                      <a:ext cx="1282539" cy="1740094"/>
                    </a:xfrm>
                    <a:prstGeom prst="rect">
                      <a:avLst/>
                    </a:prstGeom>
                  </am3d:spPr>
                  <am3d:camera>
                    <am3d:pos x="0" y="0" z="593655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5706" d="1000000"/>
                    <am3d:preTrans dx="-10492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1020895" ay="1829463" az="529561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219764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8" name="Modello 3D 7" descr="Cronometro">
                <a:extLst>
                  <a:ext uri="{FF2B5EF4-FFF2-40B4-BE49-F238E27FC236}">
                    <a16:creationId xmlns:a16="http://schemas.microsoft.com/office/drawing/2014/main" id="{8595FF24-B990-E9F5-913C-08D8D71CD8C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8224" y="983859"/>
                <a:ext cx="1282539" cy="174009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8625526"/>
      </p:ext>
    </p:extLst>
  </p:cSld>
  <p:clrMapOvr>
    <a:masterClrMapping/>
  </p:clrMapOvr>
  <p:transition spd="slow">
    <p:push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9D37E-F33B-9D9E-E78E-55AB6A7D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3ECBE29-08AC-72AB-C2F8-128D61213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6FCC1EE8-7C0D-273C-3F36-6F70ECE87B11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MOST CRITICAL PATH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lo 3D 1" descr="Cronometro">
                <a:extLst>
                  <a:ext uri="{FF2B5EF4-FFF2-40B4-BE49-F238E27FC236}">
                    <a16:creationId xmlns:a16="http://schemas.microsoft.com/office/drawing/2014/main" id="{EAD3EA78-B7D1-5C27-5528-C9F35942708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3676596"/>
                  </p:ext>
                </p:extLst>
              </p:nvPr>
            </p:nvGraphicFramePr>
            <p:xfrm>
              <a:off x="10084012" y="4204728"/>
              <a:ext cx="2018779" cy="268535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18779" cy="2685356"/>
                    </a:xfrm>
                    <a:prstGeom prst="rect">
                      <a:avLst/>
                    </a:prstGeom>
                  </am3d:spPr>
                  <am3d:camera>
                    <am3d:pos x="0" y="0" z="5936559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15706" d="1000000"/>
                    <am3d:preTrans dx="-10492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99097" ay="-1466917" az="-33574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33893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lo 3D 1" descr="Cronometro">
                <a:extLst>
                  <a:ext uri="{FF2B5EF4-FFF2-40B4-BE49-F238E27FC236}">
                    <a16:creationId xmlns:a16="http://schemas.microsoft.com/office/drawing/2014/main" id="{EAD3EA78-B7D1-5C27-5528-C9F35942708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84012" y="4204728"/>
                <a:ext cx="2018779" cy="2685356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380378632">
            <a:extLst>
              <a:ext uri="{FF2B5EF4-FFF2-40B4-BE49-F238E27FC236}">
                <a16:creationId xmlns:a16="http://schemas.microsoft.com/office/drawing/2014/main" id="{94C5BFD8-E772-CA56-26C4-0AB1E719CE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55" y="3940629"/>
            <a:ext cx="8331892" cy="2449286"/>
          </a:xfrm>
          <a:prstGeom prst="rect">
            <a:avLst/>
          </a:prstGeom>
        </p:spPr>
      </p:pic>
      <p:pic>
        <p:nvPicPr>
          <p:cNvPr id="7" name="Picture 1970883421">
            <a:extLst>
              <a:ext uri="{FF2B5EF4-FFF2-40B4-BE49-F238E27FC236}">
                <a16:creationId xmlns:a16="http://schemas.microsoft.com/office/drawing/2014/main" id="{8E7D63D0-9F7A-793A-907A-3881A5F674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55" y="1448820"/>
            <a:ext cx="6717261" cy="2078355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A344AB8-2D36-C8AD-3DD9-DE52CDE07D90}"/>
              </a:ext>
            </a:extLst>
          </p:cNvPr>
          <p:cNvSpPr txBox="1"/>
          <p:nvPr/>
        </p:nvSpPr>
        <p:spPr>
          <a:xfrm>
            <a:off x="7401209" y="1448820"/>
            <a:ext cx="3692192" cy="1974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GB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ptos" panose="020B0004020202020204" pitchFamily="34" charset="0"/>
              </a:rPr>
              <a:t>The timing analysis of the matrix multiplier design, highlights the most critical path. The most critical timing path is "Path 1", exhibiting the lowest slack value of 1.484 ns.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333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79C7B6-9EAB-8EB4-410F-EE44CD30D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2C846C4-2FCF-D938-2F69-70AA846F5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5450D45-FD8E-9358-361D-D2438C23C65D}"/>
              </a:ext>
            </a:extLst>
          </p:cNvPr>
          <p:cNvSpPr txBox="1"/>
          <p:nvPr/>
        </p:nvSpPr>
        <p:spPr>
          <a:xfrm>
            <a:off x="297757" y="190603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POWER CONSUMPTION REPORT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D7BAC9A-131E-9797-6A98-46787411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33" y="971557"/>
            <a:ext cx="5159161" cy="612553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2160BB4-6B4A-8DAA-3B9C-019A0A943E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628" y="3568819"/>
            <a:ext cx="5966539" cy="2870552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DF83BD91-F4D5-30A7-2516-96CC15401F89}"/>
              </a:ext>
            </a:extLst>
          </p:cNvPr>
          <p:cNvSpPr txBox="1"/>
          <p:nvPr/>
        </p:nvSpPr>
        <p:spPr>
          <a:xfrm>
            <a:off x="729343" y="2395231"/>
            <a:ext cx="4408714" cy="3172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Most of this power, approximately 95% (0.090 W), is attributed to static device power, which is inherent to the FPGA hardware itself regardless of activity. </a:t>
            </a:r>
            <a:endParaRPr lang="it-IT" sz="1800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GB" sz="18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The remaining 5% (0.004 W) corresponds to dynamic power, which is associated with the switching activity of the design during operation.</a:t>
            </a:r>
            <a:endParaRPr lang="it-IT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B9AD804-7E51-1BC4-D255-7E52129B1A40}"/>
              </a:ext>
            </a:extLst>
          </p:cNvPr>
          <p:cNvSpPr txBox="1"/>
          <p:nvPr/>
        </p:nvSpPr>
        <p:spPr>
          <a:xfrm>
            <a:off x="965962" y="1496945"/>
            <a:ext cx="3916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WHAT HAPPENS:</a:t>
            </a:r>
            <a:endParaRPr lang="it-IT" sz="320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lo 3D 12" descr="Presa di corrente 2">
                <a:extLst>
                  <a:ext uri="{FF2B5EF4-FFF2-40B4-BE49-F238E27FC236}">
                    <a16:creationId xmlns:a16="http://schemas.microsoft.com/office/drawing/2014/main" id="{2FB1D388-624C-32A3-D415-38EDF383D21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78280960"/>
                  </p:ext>
                </p:extLst>
              </p:nvPr>
            </p:nvGraphicFramePr>
            <p:xfrm>
              <a:off x="9267586" y="420163"/>
              <a:ext cx="3491515" cy="3396378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3491515" cy="3396378"/>
                    </a:xfrm>
                    <a:prstGeom prst="rect">
                      <a:avLst/>
                    </a:prstGeom>
                  </am3d:spPr>
                  <am3d:camera>
                    <am3d:pos x="0" y="0" z="6560963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4136" d="1000000"/>
                    <am3d:preTrans dx="403897" dy="-7233352" dz="-5857800"/>
                    <am3d:scale>
                      <am3d:sx n="1000000" d="1000000"/>
                      <am3d:sy n="1000000" d="1000000"/>
                      <am3d:sz n="1000000" d="1000000"/>
                    </am3d:scale>
                    <am3d:rot ax="-2254227" ay="1043573" az="-77702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5356193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lo 3D 12" descr="Presa di corrente 2">
                <a:extLst>
                  <a:ext uri="{FF2B5EF4-FFF2-40B4-BE49-F238E27FC236}">
                    <a16:creationId xmlns:a16="http://schemas.microsoft.com/office/drawing/2014/main" id="{2FB1D388-624C-32A3-D415-38EDF383D21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67586" y="420163"/>
                <a:ext cx="3491515" cy="339637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372570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40730-324A-F92C-08A4-C21F9E2C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A5CDD2A-A948-85EF-BF8B-2ACB3AF20E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3A168FBA-9B6D-1E69-6AEA-BB92BA03D437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RESOURCE UTILIZATION REPORT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63A7BA37-06C7-7246-2ABD-B5107C6E64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68"/>
          <a:stretch/>
        </p:blipFill>
        <p:spPr>
          <a:xfrm>
            <a:off x="0" y="3495795"/>
            <a:ext cx="8390021" cy="3377265"/>
          </a:xfrm>
          <a:prstGeom prst="rect">
            <a:avLst/>
          </a:prstGeom>
        </p:spPr>
      </p:pic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6" name="Modello 3D 5" descr="Presa di corrente 2">
                <a:extLst>
                  <a:ext uri="{FF2B5EF4-FFF2-40B4-BE49-F238E27FC236}">
                    <a16:creationId xmlns:a16="http://schemas.microsoft.com/office/drawing/2014/main" id="{FA2470BE-67BA-6907-31AA-22867CCCD45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470934022"/>
                  </p:ext>
                </p:extLst>
              </p:nvPr>
            </p:nvGraphicFramePr>
            <p:xfrm rot="18121357">
              <a:off x="8205780" y="2650712"/>
              <a:ext cx="4502390" cy="6123641"/>
            </p:xfrm>
            <a:graphic>
              <a:graphicData uri="http://schemas.microsoft.com/office/drawing/2017/model3d">
                <am3d:model3d r:embed="rId4">
                  <am3d:spPr>
                    <a:xfrm rot="18121357">
                      <a:off x="0" y="0"/>
                      <a:ext cx="4502390" cy="6123641"/>
                    </a:xfrm>
                    <a:prstGeom prst="rect">
                      <a:avLst/>
                    </a:prstGeom>
                  </am3d:spPr>
                  <am3d:camera>
                    <am3d:pos x="0" y="0" z="6560963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5554136" d="1000000"/>
                    <am3d:preTrans dx="403897" dy="-7233352" dz="-5857800"/>
                    <am3d:scale>
                      <am3d:sx n="1000000" d="1000000"/>
                      <am3d:sy n="1000000" d="1000000"/>
                      <am3d:sz n="1000000" d="1000000"/>
                    </am3d:scale>
                    <am3d:rot ax="-9353790" ay="1678257" az="711080"/>
                    <am3d:postTrans dx="0" dy="0" dz="0"/>
                  </am3d:trans>
                  <am3d:raster rName="Office3DRenderer" rVer="16.0.8326">
                    <am3d:blip r:embed="rId5"/>
                  </am3d:raster>
                  <am3d:objViewport viewportSz="710040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6" name="Modello 3D 5" descr="Presa di corrente 2">
                <a:extLst>
                  <a:ext uri="{FF2B5EF4-FFF2-40B4-BE49-F238E27FC236}">
                    <a16:creationId xmlns:a16="http://schemas.microsoft.com/office/drawing/2014/main" id="{FA2470BE-67BA-6907-31AA-22867CCCD45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8121357">
                <a:off x="8205780" y="2650712"/>
                <a:ext cx="4502390" cy="6123641"/>
              </a:xfrm>
              <a:prstGeom prst="rect">
                <a:avLst/>
              </a:prstGeom>
            </p:spPr>
          </p:pic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E3E7ED7E-C2A7-0BB0-97B6-A45CD34B2128}"/>
              </a:ext>
            </a:extLst>
          </p:cNvPr>
          <p:cNvSpPr txBox="1"/>
          <p:nvPr/>
        </p:nvSpPr>
        <p:spPr>
          <a:xfrm>
            <a:off x="593558" y="1637738"/>
            <a:ext cx="72029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GB" sz="18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The implementation utilizes only 236 Look-Up Tables (LUTs), resulting in a utilization rate of just 1.34%. </a:t>
            </a:r>
            <a:endParaRPr lang="it-IT" sz="1800">
              <a:solidFill>
                <a:schemeClr val="tx2"/>
              </a:solidFill>
              <a:effectLst/>
              <a:latin typeface="Arial Rounded MT Bold" panose="020F0704030504030204" pitchFamily="34" charset="0"/>
              <a:ea typeface="Yu Mincho" panose="02020400000000000000" pitchFamily="18" charset="-128"/>
            </a:endParaRPr>
          </a:p>
          <a:p>
            <a:pPr algn="ctr"/>
            <a:r>
              <a:rPr lang="en-GB" sz="180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Similarly, it consumes 249 Flip-Flops (FFs), corresponding to a minimal 0.71% utilization. </a:t>
            </a:r>
            <a:endParaRPr lang="it-IT" sz="1800">
              <a:solidFill>
                <a:schemeClr val="tx2"/>
              </a:solidFill>
              <a:effectLst/>
              <a:latin typeface="Arial Rounded MT Bold" panose="020F0704030504030204" pitchFamily="34" charset="0"/>
              <a:ea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6463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640DE-344C-276D-AD92-D587DE237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6FCF6C6D-F025-504A-D64D-AEBA57337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382" y="89209"/>
            <a:ext cx="1877409" cy="1764697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28A35E6-C3B2-F00F-512A-2C6B08D179FD}"/>
              </a:ext>
            </a:extLst>
          </p:cNvPr>
          <p:cNvSpPr txBox="1"/>
          <p:nvPr/>
        </p:nvSpPr>
        <p:spPr>
          <a:xfrm>
            <a:off x="89209" y="132752"/>
            <a:ext cx="8969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CONCLUSION:</a:t>
            </a:r>
            <a:endParaRPr lang="it-IT" sz="4000" cap="none" spc="0">
              <a:ln w="0"/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anose="020F0704030504030204" pitchFamily="34" charset="0"/>
            </a:endParaRPr>
          </a:p>
          <a:p>
            <a:endParaRPr lang="it-IT" sz="320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F288652-7D1B-042D-40ED-E8B9EA02B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197" y="1106905"/>
            <a:ext cx="3683287" cy="612553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485BA98B-5275-1036-97A1-F9F663DEE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107" y="4418790"/>
            <a:ext cx="2279081" cy="230645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A613ECE-2E92-99B2-8832-17BA87FCD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4123" y="1106904"/>
            <a:ext cx="3683287" cy="612553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A8CF69A6-3F9A-C6C8-9C93-9A741D71B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2087" y="2721185"/>
            <a:ext cx="1024755" cy="1811767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9F77EFA-163B-F61A-8A15-924DB42A3C99}"/>
              </a:ext>
            </a:extLst>
          </p:cNvPr>
          <p:cNvSpPr txBox="1"/>
          <p:nvPr/>
        </p:nvSpPr>
        <p:spPr>
          <a:xfrm>
            <a:off x="9978189" y="2919663"/>
            <a:ext cx="1668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tx2"/>
                </a:solidFill>
                <a:latin typeface="Arial Rounded MT Bold" panose="020F0704030504030204" pitchFamily="34" charset="0"/>
              </a:rPr>
              <a:t>TO THE FUTURE!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9AD7DD91-5863-83A8-55D8-7D6B7B91D14C}"/>
              </a:ext>
            </a:extLst>
          </p:cNvPr>
          <p:cNvSpPr txBox="1"/>
          <p:nvPr/>
        </p:nvSpPr>
        <p:spPr>
          <a:xfrm>
            <a:off x="428314" y="2006306"/>
            <a:ext cx="34490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We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implemented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a Matrix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Multiplier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in VHDL for FPGA use.</a:t>
            </a:r>
          </a:p>
          <a:p>
            <a:pPr algn="ctr"/>
            <a:endParaRPr lang="it-IT">
              <a:solidFill>
                <a:schemeClr val="tx2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Integrated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a wrapper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module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for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register-logic-register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architecture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,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enabling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easier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performance analysis.</a:t>
            </a:r>
          </a:p>
          <a:p>
            <a:pPr algn="ctr"/>
            <a:endParaRPr lang="it-IT">
              <a:solidFill>
                <a:schemeClr val="tx2"/>
              </a:solidFill>
              <a:latin typeface="Arial Rounded MT Bold" panose="020F0704030504030204" pitchFamily="34" charset="0"/>
            </a:endParaRPr>
          </a:p>
          <a:p>
            <a:pPr algn="ctr"/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Verified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functionality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with a 3×3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matrix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using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a VHDL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testbench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in ModelSim,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providing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a balance of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simplicity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 and </a:t>
            </a:r>
            <a:r>
              <a:rPr lang="it-IT" err="1">
                <a:solidFill>
                  <a:schemeClr val="tx2"/>
                </a:solidFill>
                <a:latin typeface="Arial Rounded MT Bold" panose="020F0704030504030204" pitchFamily="34" charset="0"/>
              </a:rPr>
              <a:t>functionality</a:t>
            </a:r>
            <a:r>
              <a:rPr lang="it-IT">
                <a:solidFill>
                  <a:schemeClr val="tx2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C7E6CE12-F5A1-FBD0-2E17-0A868D244849}"/>
              </a:ext>
            </a:extLst>
          </p:cNvPr>
          <p:cNvSpPr txBox="1"/>
          <p:nvPr/>
        </p:nvSpPr>
        <p:spPr>
          <a:xfrm>
            <a:off x="4828128" y="2006306"/>
            <a:ext cx="307591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endParaRPr lang="en-US" sz="2400" b="1">
              <a:solidFill>
                <a:schemeClr val="tx2"/>
              </a:solidFill>
              <a:latin typeface="Arial Rounded MT Bold" panose="020F0704030504030204" pitchFamily="34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  <a:latin typeface="Arial Rounded MT Bold" panose="020F0704030504030204" pitchFamily="34" charset="0"/>
              </a:rPr>
              <a:t> Scalability:</a:t>
            </a:r>
            <a:r>
              <a:rPr lang="en-US">
                <a:solidFill>
                  <a:schemeClr val="tx2"/>
                </a:solidFill>
                <a:latin typeface="Arial Rounded MT Bold" panose="020F0704030504030204" pitchFamily="34" charset="0"/>
              </a:rPr>
              <a:t> Expand design to support larger matrices and higher precision (e.g., increased word length).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  <a:latin typeface="Arial Rounded MT Bold" panose="020F0704030504030204" pitchFamily="34" charset="0"/>
              </a:rPr>
              <a:t> Modularity:</a:t>
            </a:r>
            <a:r>
              <a:rPr lang="en-US">
                <a:solidFill>
                  <a:schemeClr val="tx2"/>
                </a:solidFill>
                <a:latin typeface="Arial Rounded MT Bold" panose="020F0704030504030204" pitchFamily="34" charset="0"/>
              </a:rPr>
              <a:t> change </a:t>
            </a:r>
            <a:r>
              <a:rPr lang="en-US" b="1">
                <a:solidFill>
                  <a:schemeClr val="tx2"/>
                </a:solidFill>
                <a:latin typeface="Arial Rounded MT Bold" panose="020F0704030504030204" pitchFamily="34" charset="0"/>
              </a:rPr>
              <a:t>matrix dimensions</a:t>
            </a:r>
            <a:r>
              <a:rPr lang="en-US">
                <a:solidFill>
                  <a:schemeClr val="tx2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tx2"/>
                </a:solidFill>
                <a:latin typeface="Arial Rounded MT Bold" panose="020F0704030504030204" pitchFamily="34" charset="0"/>
              </a:rPr>
              <a:t> Optimization:</a:t>
            </a:r>
            <a:r>
              <a:rPr lang="en-US">
                <a:solidFill>
                  <a:schemeClr val="tx2"/>
                </a:solidFill>
                <a:latin typeface="Arial Rounded MT Bold" panose="020F0704030504030204" pitchFamily="34" charset="0"/>
              </a:rPr>
              <a:t> Explore pipelining and parallelism for higher performance in real-time systems.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5D1FFA23-C71C-D808-F2C9-8371F8E7746F}"/>
              </a:ext>
            </a:extLst>
          </p:cNvPr>
          <p:cNvSpPr txBox="1"/>
          <p:nvPr/>
        </p:nvSpPr>
        <p:spPr>
          <a:xfrm>
            <a:off x="5414619" y="1378892"/>
            <a:ext cx="20022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FUTURE:</a:t>
            </a:r>
            <a:endParaRPr lang="it-IT" sz="320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EFB9E773-E5CD-7EB6-19C2-22017EA156DE}"/>
              </a:ext>
            </a:extLst>
          </p:cNvPr>
          <p:cNvSpPr txBox="1"/>
          <p:nvPr/>
        </p:nvSpPr>
        <p:spPr>
          <a:xfrm>
            <a:off x="875449" y="1377306"/>
            <a:ext cx="2554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OUR GOAL:</a:t>
            </a:r>
            <a:endParaRPr lang="it-IT" sz="3200"/>
          </a:p>
        </p:txBody>
      </p:sp>
    </p:spTree>
    <p:extLst>
      <p:ext uri="{BB962C8B-B14F-4D97-AF65-F5344CB8AC3E}">
        <p14:creationId xmlns:p14="http://schemas.microsoft.com/office/powerpoint/2010/main" val="3286096561"/>
      </p:ext>
    </p:extLst>
  </p:cSld>
  <p:clrMapOvr>
    <a:masterClrMapping/>
  </p:clrMapOvr>
  <p:transition spd="slow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BFFD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3DAAC5-B5CB-8AEE-AF45-E990C1DE4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BC62FAA-6716-5995-78D8-D72F36F12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140" y="242039"/>
            <a:ext cx="6939720" cy="6523087"/>
          </a:xfrm>
          <a:prstGeom prst="rect">
            <a:avLst/>
          </a:prstGeom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69BED806-6142-C371-45B3-D91BE7DB9BBF}"/>
              </a:ext>
            </a:extLst>
          </p:cNvPr>
          <p:cNvSpPr/>
          <p:nvPr/>
        </p:nvSpPr>
        <p:spPr>
          <a:xfrm>
            <a:off x="-3" y="2021834"/>
            <a:ext cx="12191999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6000" cap="none" spc="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THANKS FOR </a:t>
            </a:r>
          </a:p>
          <a:p>
            <a:pPr algn="ctr"/>
            <a:r>
              <a:rPr lang="it-IT" sz="6000" cap="none" spc="0" dirty="0">
                <a:ln w="0"/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anose="020F0704030504030204" pitchFamily="34" charset="0"/>
              </a:rPr>
              <a:t>THE ATTENTION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C9247C-E9E0-D208-E8A3-F97441106834}"/>
              </a:ext>
            </a:extLst>
          </p:cNvPr>
          <p:cNvSpPr txBox="1"/>
          <p:nvPr/>
        </p:nvSpPr>
        <p:spPr>
          <a:xfrm>
            <a:off x="2841169" y="4569820"/>
            <a:ext cx="6509657" cy="20538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tx2"/>
                </a:solidFill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 </a:t>
            </a:r>
            <a:endParaRPr lang="it-IT" sz="1800" b="1" kern="100" dirty="0">
              <a:solidFill>
                <a:schemeClr val="tx2"/>
              </a:solidFill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fr-FR" sz="1800" b="1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Megan Maremmani</a:t>
            </a:r>
            <a:endParaRPr lang="it-IT" sz="1800" b="1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lang="fr-FR" sz="1800" b="1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Eleni </a:t>
            </a:r>
            <a:r>
              <a:rPr lang="fr-FR" sz="1800" b="1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Zewdu</a:t>
            </a:r>
            <a:r>
              <a:rPr lang="fr-FR" sz="1800" b="1" kern="100" dirty="0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fr-FR" sz="1800" b="1" kern="100" dirty="0" err="1">
                <a:solidFill>
                  <a:schemeClr val="tx2"/>
                </a:solidFill>
                <a:effectLst/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Belayhun</a:t>
            </a:r>
            <a:endParaRPr lang="it-IT" sz="1800" b="1" kern="100" dirty="0">
              <a:solidFill>
                <a:schemeClr val="tx2"/>
              </a:solidFill>
              <a:effectLst/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tabLst>
                <a:tab pos="1276985" algn="l"/>
              </a:tabLst>
            </a:pPr>
            <a:endParaRPr lang="it-IT" sz="1800" b="1" kern="100" dirty="0">
              <a:solidFill>
                <a:schemeClr val="tx2"/>
              </a:solidFill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/>
            <a:endParaRPr lang="it-IT" b="1" dirty="0">
              <a:solidFill>
                <a:schemeClr val="tx2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FABA19F-D8EC-B17F-24E3-1E7F8A8E4443}"/>
              </a:ext>
            </a:extLst>
          </p:cNvPr>
          <p:cNvSpPr txBox="1"/>
          <p:nvPr/>
        </p:nvSpPr>
        <p:spPr>
          <a:xfrm>
            <a:off x="3047998" y="609992"/>
            <a:ext cx="6096000" cy="80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  <a:tabLst>
                <a:tab pos="1276985" algn="l"/>
              </a:tabLst>
            </a:pPr>
            <a:r>
              <a:rPr lang="en-GB" sz="1800" b="1" kern="100" dirty="0">
                <a:solidFill>
                  <a:schemeClr val="tx2"/>
                </a:solidFill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Master Of Science in Computer Engineering </a:t>
            </a:r>
            <a:endParaRPr lang="it-IT" sz="1800" b="1" kern="100" dirty="0">
              <a:solidFill>
                <a:schemeClr val="tx2"/>
              </a:solidFill>
              <a:latin typeface="Arial Rounded MT Bold" panose="020F070403050403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tabLst>
                <a:tab pos="1276985" algn="l"/>
              </a:tabLst>
            </a:pPr>
            <a:r>
              <a:rPr lang="en-GB" sz="1800" b="1" kern="100" dirty="0">
                <a:solidFill>
                  <a:schemeClr val="tx2"/>
                </a:solidFill>
                <a:latin typeface="Arial Rounded MT Bold" panose="020F0704030504030204" pitchFamily="34" charset="0"/>
                <a:ea typeface="Aptos" panose="020B0004020202020204" pitchFamily="34" charset="0"/>
                <a:cs typeface="Arial" panose="020B0604020202020204" pitchFamily="34" charset="0"/>
              </a:rPr>
              <a:t>Electronics and Communications Systems</a:t>
            </a:r>
          </a:p>
        </p:txBody>
      </p:sp>
    </p:spTree>
    <p:extLst>
      <p:ext uri="{BB962C8B-B14F-4D97-AF65-F5344CB8AC3E}">
        <p14:creationId xmlns:p14="http://schemas.microsoft.com/office/powerpoint/2010/main" val="2505756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908D55DBE5E84F9432CBF6E22841EB" ma:contentTypeVersion="18" ma:contentTypeDescription="Create a new document." ma:contentTypeScope="" ma:versionID="f5b499229b4801ebd25afba4c0b708f7">
  <xsd:schema xmlns:xsd="http://www.w3.org/2001/XMLSchema" xmlns:xs="http://www.w3.org/2001/XMLSchema" xmlns:p="http://schemas.microsoft.com/office/2006/metadata/properties" xmlns:ns3="00529b02-db61-4c5e-ac25-bbbd6a23d51a" xmlns:ns4="b558e496-719d-44c4-9cbe-128ec6e0ce0d" targetNamespace="http://schemas.microsoft.com/office/2006/metadata/properties" ma:root="true" ma:fieldsID="e1dc670b959ecb526478f38a6246b361" ns3:_="" ns4:_="">
    <xsd:import namespace="00529b02-db61-4c5e-ac25-bbbd6a23d51a"/>
    <xsd:import namespace="b558e496-719d-44c4-9cbe-128ec6e0ce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529b02-db61-4c5e-ac25-bbbd6a23d5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58e496-719d-44c4-9cbe-128ec6e0ce0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0529b02-db61-4c5e-ac25-bbbd6a23d51a" xsi:nil="true"/>
  </documentManagement>
</p:properties>
</file>

<file path=customXml/itemProps1.xml><?xml version="1.0" encoding="utf-8"?>
<ds:datastoreItem xmlns:ds="http://schemas.openxmlformats.org/officeDocument/2006/customXml" ds:itemID="{4976DD37-B7CC-40C9-9FFE-D92FDF2FE6EB}">
  <ds:schemaRefs>
    <ds:schemaRef ds:uri="00529b02-db61-4c5e-ac25-bbbd6a23d51a"/>
    <ds:schemaRef ds:uri="b558e496-719d-44c4-9cbe-128ec6e0ce0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DE1CDBA-D5CE-48C4-ADFB-49DE62955A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F21F6F-DB29-4818-BA75-A5F14BA5CD2A}">
  <ds:schemaRefs>
    <ds:schemaRef ds:uri="http://schemas.microsoft.com/office/2006/metadata/properties"/>
    <ds:schemaRef ds:uri="b558e496-719d-44c4-9cbe-128ec6e0ce0d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00529b02-db61-4c5e-ac25-bbbd6a23d51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Widescreen</PresentationFormat>
  <Paragraphs>113</Paragraphs>
  <Slides>17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Arial Rounded MT Bold</vt:lpstr>
      <vt:lpstr>Cambria Math</vt:lpstr>
      <vt:lpstr>Symbol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Megan Maremmani</dc:creator>
  <cp:lastModifiedBy>Megan Maremmani</cp:lastModifiedBy>
  <cp:revision>1</cp:revision>
  <dcterms:created xsi:type="dcterms:W3CDTF">2025-04-12T15:32:46Z</dcterms:created>
  <dcterms:modified xsi:type="dcterms:W3CDTF">2025-04-15T09:49:57Z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0x010100C8908D55DBE5E84F9432CBF6E22841EB</vt:lpwstr>
  </property>
</Properties>
</file>